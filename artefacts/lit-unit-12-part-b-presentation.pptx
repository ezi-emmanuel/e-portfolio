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7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0"/>
            <a:ext cx="8321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Critically Evaluating Artificial Intelligence</a:t>
            </a:r>
            <a:br/>
            <a:r>
              <a:t>as an Emerging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1455" y="2560320"/>
            <a:ext cx="8475345" cy="310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DDEE"/>
                </a:solidFill>
              </a:defRPr>
            </a:pPr>
            <a:r>
              <a:rPr b="1"/>
              <a:t>Critically evaluate AI and discuss how enterprises can balance innovation with security and ethical considerations.</a:t>
            </a:r>
            <a:br>
              <a:rPr b="1"/>
            </a:b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br>
              <a:rPr b="1"/>
            </a:br>
            <a:r>
              <a:rPr b="1"/>
              <a:t>Covers: human research | technical overview | enterprise use | ethics | security | regulation | Generative AI response | critical comparison</a:t>
            </a: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endParaRPr b="1"/>
          </a:p>
          <a:p>
            <a:pPr algn="ctr">
              <a:defRPr sz="1400">
                <a:solidFill>
                  <a:srgbClr val="CCDDEE"/>
                </a:solidFill>
              </a:defRPr>
            </a:pPr>
            <a:r>
              <a:rPr lang="en-GB" b="1"/>
              <a:t>July 2026</a:t>
            </a:r>
            <a:endParaRPr lang="en-GB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0" y="725805"/>
            <a:ext cx="4572635" cy="46539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79950" y="2701290"/>
            <a:ext cx="4484370" cy="41554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345376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Research-Based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" y="725805"/>
            <a:ext cx="4502150" cy="465391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 b="1"/>
              <a:t>E</a:t>
            </a:r>
            <a:r>
              <a:rPr sz="1200" b="1"/>
              <a:t>valuation:</a:t>
            </a:r>
            <a:r>
              <a:rPr sz="1200"/>
              <a:t> AI is high-value but not neutral</a:t>
            </a:r>
            <a:r>
              <a:rPr lang="en-GB" sz="1200"/>
              <a:t>, </a:t>
            </a:r>
            <a:r>
              <a:rPr sz="1200"/>
              <a:t>it amplifies bias, opacity and attack surface at scale (Jobin, Ienca and Vayena, 2019).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Enterprises must balance three pillars: technical controls (secure MLOps, testing), regulation (AI Act, GDPR, NIST), and ethical culture (oversight, auditing) (NIST, 2023).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Method: peer-reviewed papers, EU/UK law, and industry reports  each source verified independently.</a:t>
            </a:r>
            <a:endParaRPr sz="1200"/>
          </a:p>
          <a:p>
            <a:pPr algn="just"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Connection to Part A: minor data-quality flaws in scripts mirror production CRM/HR pipelines (O'Regan, 2024 equivalent logic in name deduplication).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Argument: innovation without governance creates legal and reputational debt, not competitive advantage (Floridi et al., 2018).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AI adoption is mainstream in development tooling (Stack Overflow, 2024)  professional duty to evaluate risks follows.</a:t>
            </a:r>
            <a:endParaRPr sz="1200"/>
          </a:p>
        </p:txBody>
      </p:sp>
      <p:pic>
        <p:nvPicPr>
          <p:cNvPr id="5" name="Picture 4" descr="det_bal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510" y="752475"/>
            <a:ext cx="3044190" cy="1703705"/>
          </a:xfrm>
          <a:prstGeom prst="rect">
            <a:avLst/>
          </a:prstGeom>
        </p:spPr>
      </p:pic>
      <p:sp>
        <p:nvSpPr>
          <p:cNvPr id="7" name="TextBox 3"/>
          <p:cNvSpPr txBox="1"/>
          <p:nvPr/>
        </p:nvSpPr>
        <p:spPr>
          <a:xfrm>
            <a:off x="4677410" y="2681605"/>
            <a:ext cx="4460875" cy="41211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>
                <a:sym typeface="+mn-ea"/>
              </a:rPr>
              <a:t>Technical Overview of Artificial Intelligence</a:t>
            </a:r>
            <a:endParaRPr sz="1200" b="1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AI umbrella:</a:t>
            </a:r>
            <a:r>
              <a:rPr sz="1200"/>
              <a:t> machine learning finds patterns; deep learning uses neural networks; generative AI (LLMs) predicts text (Russell and Norvig, 2021).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Enterprise lifecycle:</a:t>
            </a:r>
            <a:r>
              <a:rPr sz="1200"/>
              <a:t> collect data → train → validate → deploy → monitor  ongoing loop, not one project (NIST, 2023).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Generative AI does not understand meaning; fluent output can mislead users (Bender et al., 2021  'Stochastic Parrots').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Deployment:</a:t>
            </a:r>
            <a:r>
              <a:rPr sz="1200"/>
              <a:t> cloud APIs (Azure OpenAI, Bedrock), custom models, embedded analytics in CRM/ERP systems.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Technical benefit:</a:t>
            </a:r>
            <a:r>
              <a:rPr sz="1200"/>
              <a:t> speed and scale of prediction and automation across millions of records.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Technical risk:</a:t>
            </a:r>
            <a:r>
              <a:rPr sz="1200"/>
              <a:t> errors, adversarial inputs, and model drift propagate as fast as automation (NIST, 2023).</a:t>
            </a:r>
            <a:endParaRPr sz="1200"/>
          </a:p>
        </p:txBody>
      </p:sp>
      <p:pic>
        <p:nvPicPr>
          <p:cNvPr id="10" name="Picture 9" descr="det_lifecycle.png"/>
          <p:cNvPicPr>
            <a:picLocks noChangeAspect="1"/>
          </p:cNvPicPr>
          <p:nvPr/>
        </p:nvPicPr>
        <p:blipFill>
          <a:blip r:embed="rId2"/>
          <a:srcRect b="39410"/>
          <a:stretch>
            <a:fillRect/>
          </a:stretch>
        </p:blipFill>
        <p:spPr>
          <a:xfrm>
            <a:off x="429260" y="5511800"/>
            <a:ext cx="3784600" cy="930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Vertical Scroll 6"/>
          <p:cNvSpPr/>
          <p:nvPr/>
        </p:nvSpPr>
        <p:spPr>
          <a:xfrm>
            <a:off x="226695" y="2931795"/>
            <a:ext cx="8503920" cy="3354070"/>
          </a:xfrm>
          <a:prstGeom prst="verticalScroll">
            <a:avLst>
              <a:gd name="adj" fmla="val 10354"/>
            </a:avLst>
          </a:prstGeom>
          <a:solidFill>
            <a:schemeClr val="tx1">
              <a:lumMod val="95000"/>
              <a:lumOff val="5000"/>
            </a:schemeClr>
          </a:solidFill>
          <a:ln w="6667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44265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Real-World Enterprise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5475" y="3387725"/>
            <a:ext cx="7684135" cy="2727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>
                <a:solidFill>
                  <a:schemeClr val="bg1"/>
                </a:solidFill>
              </a:rPr>
              <a:t>Finance:</a:t>
            </a:r>
            <a:r>
              <a:rPr sz="1200">
                <a:solidFill>
                  <a:schemeClr val="bg1"/>
                </a:solidFill>
              </a:rPr>
              <a:t> ML for fraud detection and anti-money-laundering; AI pipelines hold sensitive transaction data (IBM, 2024).</a:t>
            </a:r>
            <a:endParaRPr sz="12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>
                <a:solidFill>
                  <a:schemeClr val="bg1"/>
                </a:solidFill>
              </a:rPr>
              <a:t>Healthcare:</a:t>
            </a:r>
            <a:r>
              <a:rPr sz="1200">
                <a:solidFill>
                  <a:schemeClr val="bg1"/>
                </a:solidFill>
              </a:rPr>
              <a:t> AI-assisted triage and documentation  requires clinical validation before patient-facing use.</a:t>
            </a:r>
            <a:endParaRPr sz="12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>
                <a:solidFill>
                  <a:schemeClr val="bg1"/>
                </a:solidFill>
              </a:rPr>
              <a:t>HR:</a:t>
            </a:r>
            <a:r>
              <a:rPr sz="1200">
                <a:solidFill>
                  <a:schemeClr val="bg1"/>
                </a:solidFill>
              </a:rPr>
              <a:t> automated CV screening and LLM chatbots; Amazon recruiting tool scrapped after gender bias (Dastin, 2018).</a:t>
            </a:r>
            <a:endParaRPr sz="12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>
                <a:solidFill>
                  <a:schemeClr val="bg1"/>
                </a:solidFill>
              </a:rPr>
              <a:t>Retail:</a:t>
            </a:r>
            <a:r>
              <a:rPr sz="1200">
                <a:solidFill>
                  <a:schemeClr val="bg1"/>
                </a:solidFill>
              </a:rPr>
              <a:t> recommendation engines and demand forecasting; data quality directly affects revenue (Grus, 2019).</a:t>
            </a:r>
            <a:endParaRPr sz="12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>
                <a:solidFill>
                  <a:schemeClr val="bg1"/>
                </a:solidFill>
              </a:rPr>
              <a:t>McKinsey (2024): generative AI economic potential is large, but governance often lags deployment.</a:t>
            </a:r>
            <a:endParaRPr sz="12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>
                <a:solidFill>
                  <a:schemeClr val="bg1"/>
                </a:solidFill>
              </a:rPr>
              <a:t>Lesson from Amazon case:</a:t>
            </a:r>
            <a:r>
              <a:rPr sz="1200">
                <a:solidFill>
                  <a:schemeClr val="bg1"/>
                </a:solidFill>
              </a:rPr>
              <a:t> optimising historical data can encode discrimination  technical success ≠ ethical acceptability (Dastin, 2018).</a:t>
            </a:r>
            <a:endParaRPr sz="1200">
              <a:solidFill>
                <a:schemeClr val="bg1"/>
              </a:solidFill>
            </a:endParaRPr>
          </a:p>
        </p:txBody>
      </p:sp>
      <p:pic>
        <p:nvPicPr>
          <p:cNvPr id="5" name="Picture 4" descr="det_secto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8690" y="779780"/>
            <a:ext cx="4389755" cy="2077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4053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Ethical </a:t>
            </a:r>
            <a:r>
              <a:rPr lang="en-GB"/>
              <a:t>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13105"/>
            <a:ext cx="4157345" cy="576961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Bias and fairness:</a:t>
            </a:r>
            <a:r>
              <a:rPr sz="1200"/>
              <a:t> Buolamwini and Gebru (2018) Gender Shades study found higher facial recognition error rates for darker-skinned women; disparate impact in access systems.</a:t>
            </a:r>
            <a:endParaRPr sz="1200"/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Opacity and accountability: Mittelstadt et al. (2016)  'black box' decisions undermine due process when algorithms affect rights.</a:t>
            </a:r>
            <a:endParaRPr sz="1200"/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Human dignity: </a:t>
            </a:r>
            <a:r>
              <a:rPr sz="1200"/>
              <a:t>Floridi et al. (2018)  AI must support human agency; full automation in dismissal, credit, or care decisions raises ethical red flags.</a:t>
            </a:r>
            <a:endParaRPr sz="1200"/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Social harm and data ethics: Noble (2018)  search/classification systems can reinforce inequality; Bender et al. (2021)  consent, labour, environmental costs of training.</a:t>
            </a:r>
            <a:endParaRPr sz="1200"/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Professional codes:</a:t>
            </a:r>
            <a:r>
              <a:rPr sz="1200"/>
              <a:t> ACM (2018) 'avoid harm'; BCS (2022)  privacy and dignity; code reviews must ask who is harmed if the system fails.</a:t>
            </a:r>
            <a:endParaRPr sz="1200"/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Practical response: </a:t>
            </a:r>
            <a:r>
              <a:rPr sz="1200"/>
              <a:t>algorithmic auditing before and after deployment (Raji et al., 2020).</a:t>
            </a:r>
            <a:endParaRPr sz="1200"/>
          </a:p>
        </p:txBody>
      </p:sp>
      <p:pic>
        <p:nvPicPr>
          <p:cNvPr id="6" name="Picture 5" descr="slide05_ethics_fairn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4170" y="2058035"/>
            <a:ext cx="4767580" cy="3065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320040" y="1581150"/>
            <a:ext cx="8502650" cy="431101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047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7" name="TextBox 3"/>
          <p:cNvSpPr txBox="1"/>
          <p:nvPr/>
        </p:nvSpPr>
        <p:spPr>
          <a:xfrm>
            <a:off x="354965" y="1581150"/>
            <a:ext cx="8273415" cy="41040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just">
              <a:lnSpc>
                <a:spcPct val="20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Data breaches:</a:t>
            </a:r>
            <a:r>
              <a:rPr sz="1200"/>
              <a:t> IBM (2024) reports global average breach cost of $4.88M; AI centralises training and inference data  higher impact if compromised.</a:t>
            </a:r>
            <a:endParaRPr sz="1200"/>
          </a:p>
          <a:p>
            <a:pPr algn="just">
              <a:lnSpc>
                <a:spcPct val="20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Adversarial attacks: </a:t>
            </a:r>
            <a:r>
              <a:rPr sz="1200"/>
              <a:t>crafted inputs fool classifiers; data poisoning corrupts models during training (NIST, 2023).</a:t>
            </a:r>
            <a:endParaRPr sz="1200"/>
          </a:p>
          <a:p>
            <a:pPr algn="just">
              <a:lnSpc>
                <a:spcPct val="20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Generative AI threats: </a:t>
            </a:r>
            <a:r>
              <a:rPr sz="1200"/>
              <a:t>OWASP (2024) LLM Top 10 includes prompt injection, insecure output handling, and model denial-of-service.</a:t>
            </a:r>
            <a:endParaRPr sz="1200"/>
          </a:p>
          <a:p>
            <a:pPr algn="just">
              <a:lnSpc>
                <a:spcPct val="20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Supply-chain risk:</a:t>
            </a:r>
            <a:r>
              <a:rPr sz="1200"/>
              <a:t> third-party APIs (OpenAI, etc.) limited visibility into training data and updates.</a:t>
            </a:r>
            <a:endParaRPr sz="1200"/>
          </a:p>
          <a:p>
            <a:pPr algn="just">
              <a:lnSpc>
                <a:spcPct val="20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Social engineering:</a:t>
            </a:r>
            <a:r>
              <a:rPr sz="1200"/>
              <a:t> deepfakes and voice clones used in CEO fraud and phishing at scale.</a:t>
            </a:r>
            <a:endParaRPr sz="1200"/>
          </a:p>
          <a:p>
            <a:pPr algn="just">
              <a:lnSpc>
                <a:spcPct val="20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Enterprise response:</a:t>
            </a:r>
            <a:r>
              <a:rPr sz="1200"/>
              <a:t> MLOps security, adversarial red-teaming, access controls, incident plans for model drift  not generic IT security alone (NIST, 2023).</a:t>
            </a:r>
            <a:endParaRPr sz="1200"/>
          </a:p>
          <a:p>
            <a:pPr algn="just">
              <a:lnSpc>
                <a:spcPct val="200000"/>
              </a:lnSpc>
              <a:spcAft>
                <a:spcPts val="4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Balancing innovation: </a:t>
            </a:r>
            <a:r>
              <a:rPr sz="1200"/>
              <a:t>secure-by-design AI reduces cost of breach vs retrofitting controls after deployment (IBM, 2024).</a:t>
            </a:r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2"/>
          <p:cNvSpPr txBox="1"/>
          <p:nvPr/>
        </p:nvSpPr>
        <p:spPr>
          <a:xfrm>
            <a:off x="320040" y="91440"/>
            <a:ext cx="4053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 lang="en-GB"/>
              <a:t>Security</a:t>
            </a:r>
            <a:r>
              <a:t> </a:t>
            </a:r>
            <a:r>
              <a:rPr lang="en-GB"/>
              <a:t>Concerns</a:t>
            </a:r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5074920" y="3721735"/>
            <a:ext cx="3940810" cy="27889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13207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Regulatory and Governance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7780"/>
            <a:ext cx="4421505" cy="4527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b="1"/>
              <a:t>EU AI Act (European Parliament, 2024):</a:t>
            </a:r>
            <a:r>
              <a:t> risk-based  bans unacceptable uses; strict rules for high-risk AI (employment, credit, critical infra).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b="1"/>
              <a:t>GDPR (European Union, 2016):</a:t>
            </a:r>
            <a:r>
              <a:t> accuracy, lawful basis, security; Article 5(1)(d) accuracy principle for personal data.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b="1"/>
              <a:t>ICO (2024):</a:t>
            </a:r>
            <a:r>
              <a:t> UK AI guidance Data Protection Impact Assessments for high-risk automated processing.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b="1"/>
              <a:t>NIST AI RMF (2023): </a:t>
            </a:r>
            <a:r>
              <a:t>Govern | Map | Measure | Manage  widely adopted voluntary framework.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b="1"/>
              <a:t>ISO/IEC 42001:</a:t>
            </a:r>
            <a:r>
              <a:t> certifiable AI management system for organisational governance.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b="1"/>
              <a:t>Jobin, Ienca and Vayena (2019):</a:t>
            </a:r>
            <a:r>
              <a:t> 80+ ethics guidelines agree on principles but lack enforcement  internal auditing essential (Raji et al., 2020).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b="1"/>
              <a:t>Enterprise balance:</a:t>
            </a:r>
            <a:r>
              <a:t> comply before scale; governance is enabler of trusted innovation, not blocker.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139690" y="3912235"/>
            <a:ext cx="3861435" cy="2433320"/>
          </a:xfrm>
          <a:prstGeom prst="rect">
            <a:avLst/>
          </a:prstGeom>
          <a:noFill/>
          <a:ln w="139700"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>
                <a:sym typeface="+mn-ea"/>
              </a:rPr>
              <a:t>Conclusion: </a:t>
            </a:r>
            <a:r>
              <a:rPr sz="1200">
                <a:sym typeface="+mn-ea"/>
              </a:rPr>
              <a:t>AI is a transformative emerging technology; enterprises balance innovation with security and ethics via governance, regulation, and culture (NIST, 2023; Floridi et al., 2018).</a:t>
            </a:r>
            <a:endParaRPr sz="1200"/>
          </a:p>
          <a:p>
            <a:pPr algn="l"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>
                <a:sym typeface="+mn-ea"/>
              </a:rPr>
              <a:t>Unchecked AI deployment amplifies harm; proactive auditing and compliance build trust (Raji et al., 2020).</a:t>
            </a:r>
            <a:endParaRPr sz="1200"/>
          </a:p>
          <a:p>
            <a:pPr algn="l"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>
                <a:sym typeface="+mn-ea"/>
              </a:rPr>
              <a:t>GenAI useful for drafts  never substitute for verified research and professional accountability.</a:t>
            </a:r>
            <a:endParaRPr sz="1200"/>
          </a:p>
          <a:p>
            <a:pPr algn="l">
              <a:lnSpc>
                <a:spcPct val="150000"/>
              </a:lnSpc>
              <a:spcAft>
                <a:spcPts val="300"/>
              </a:spcAft>
            </a:pPr>
            <a:endParaRPr lang="en-US" sz="1200"/>
          </a:p>
        </p:txBody>
      </p:sp>
      <p:pic>
        <p:nvPicPr>
          <p:cNvPr id="9" name="Picture 8" descr="slide07_regulation_pyram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4270" y="904875"/>
            <a:ext cx="4080510" cy="2720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0103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Slide 8: Generative AI Response (Same Brief)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13460"/>
            <a:ext cx="18084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88"/>
                </a:solidFill>
                <a:latin typeface="Arial" panose="020B0604020202020204"/>
              </a:defRPr>
            </a:pPr>
            <a:r>
              <a:rPr sz="1200"/>
              <a:t> Ethics (AI-generated</a:t>
            </a:r>
            <a:r>
              <a:rPr sz="1200"/>
              <a:t>):</a:t>
            </a: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365760" y="1319530"/>
            <a:ext cx="8412480" cy="772160"/>
          </a:xfrm>
          <a:prstGeom prst="rect">
            <a:avLst/>
          </a:prstGeom>
          <a:solidFill>
            <a:srgbClr val="E8F4F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2555"/>
            <a:ext cx="81381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"AI raises important ethical issues. Bias in training data can cause discriminatory outcomes against minority groups. Many AI systems operate as 'black boxes' making it difficult to explain decisions."</a:t>
            </a:r>
            <a:endParaRPr sz="1200"/>
          </a:p>
        </p:txBody>
      </p:sp>
      <p:sp>
        <p:nvSpPr>
          <p:cNvPr id="8" name="TextBox 7"/>
          <p:cNvSpPr txBox="1"/>
          <p:nvPr/>
        </p:nvSpPr>
        <p:spPr>
          <a:xfrm>
            <a:off x="365760" y="2386965"/>
            <a:ext cx="3799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88"/>
                </a:solidFill>
                <a:latin typeface="Arial" panose="020B0604020202020204"/>
              </a:defRPr>
            </a:pPr>
            <a:r>
              <a:rPr sz="1200"/>
              <a:t>Excerpt B — Balancing innovation (AI-generated):</a:t>
            </a: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365760" y="2626233"/>
            <a:ext cx="8412480" cy="960120"/>
          </a:xfrm>
          <a:prstGeom prst="rect">
            <a:avLst/>
          </a:prstGeom>
          <a:solidFill>
            <a:srgbClr val="E8F4F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9385"/>
            <a:ext cx="81381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"To balance innovation with responsibility, enterprises should establish AI governance committees, conduct ethical impact assessments before deployment, maintain human oversight for critical decisions."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65760" y="4055745"/>
            <a:ext cx="306895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88"/>
                </a:solidFill>
                <a:latin typeface="Arial" panose="020B0604020202020204"/>
              </a:defRPr>
            </a:pPr>
            <a:r>
              <a:rPr sz="1200"/>
              <a:t>Excerpt C — Case study (AI-generated</a:t>
            </a:r>
            <a:r>
              <a:rPr sz="1200"/>
              <a:t>):</a:t>
            </a:r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365760" y="4295013"/>
            <a:ext cx="8412480" cy="868680"/>
          </a:xfrm>
          <a:prstGeom prst="rect">
            <a:avLst/>
          </a:prstGeom>
          <a:solidFill>
            <a:srgbClr val="E8F4F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368165"/>
            <a:ext cx="8138160" cy="4051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i="1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"A well-known example is Amazon's AI recruiting tool, which was reportedly discontinued after showing bias against women because it was trained on historical hiring data dominated by male candidates (Reuters, 2018)."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Slide 9: Critical Comparison — Human Research vs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4709160" cy="52698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Accuracy and reliability of sources:</a:t>
            </a:r>
            <a:r>
              <a:rPr sz="1200"/>
              <a:t> Human response uses verified Harvard refs (Bender et al., 2021; European Parliament, 2024). AI cited 'Reuters, 2018' incompletely; some claims lacked traceable evidence.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Depth and nuance:</a:t>
            </a:r>
            <a:r>
              <a:rPr sz="1200"/>
              <a:t> Human analysis covers GDPR + LLM fine-tuning trade-offs, supply-chain risk, sector validation. AI listed risks generically without weighing conflicts (Mittelstadt et al., 2016).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/>
              <a:t>Ethical issues (bias, transparency, hallucinations): AI mentioned bias/black boxes but not its own hallucination risk; confident AI prose misleads readers </a:t>
            </a:r>
            <a:r>
              <a:rPr sz="1200"/>
              <a:t>(Bender et al., 2021).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Professional appropriateness:</a:t>
            </a:r>
            <a:r>
              <a:rPr sz="1200"/>
              <a:t> GenAI acceptable for brainstorming; unacceptable unchecked for graded or client work (BCS, 2022; ACM, 2018).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Reflection supports:</a:t>
            </a:r>
            <a:r>
              <a:rPr sz="1200"/>
              <a:t> fast outline, literature prompts, slide structure. Hinders: skips verification, creates false confidence, weak citations.</a:t>
            </a:r>
            <a:endParaRPr sz="1200"/>
          </a:p>
          <a:p>
            <a:pPr>
              <a:lnSpc>
                <a:spcPct val="150000"/>
              </a:lnSpc>
              <a:spcAft>
                <a:spcPts val="300"/>
              </a:spcAft>
              <a:defRPr sz="1100">
                <a:solidFill>
                  <a:srgbClr val="2D2D2D"/>
                </a:solidFill>
                <a:latin typeface="Arial" panose="020B0604020202020204"/>
              </a:defRPr>
            </a:pPr>
            <a:r>
              <a:rPr sz="1200" b="1"/>
              <a:t>Conclusion:</a:t>
            </a:r>
            <a:r>
              <a:rPr sz="1200"/>
              <a:t> human critical evaluation remains mandatory; GenAI is assistant, not author.</a:t>
            </a:r>
            <a:endParaRPr sz="1200"/>
          </a:p>
        </p:txBody>
      </p:sp>
      <p:pic>
        <p:nvPicPr>
          <p:cNvPr id="7" name="Picture 6" descr="slide09_human_vs_a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4745" y="2244090"/>
            <a:ext cx="4030980" cy="3074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55067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415" y="621665"/>
            <a:ext cx="8996045" cy="61861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ACM (2018) ACM Code of Ethics and Professional Conduct. Available at: https://www.acm.org/code-of-ethics (Accessed: 20 July 2026).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BCS (2022) BCS Code of Conduct. Available at: https://www.bcs.org/membership-and-registrations/become-a-member/bcs-code-of-conduct/ (Accessed: 20 July 2026).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Bender, E.M., Gebru, T., McMillan-Major, A. and Shmitchell, S. (2021) 'On the Dangers of Stochastic Parrots', Proceedings of FAccT, pp. 610-623.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Buolamwini, J. and Gebru, T. (2018) 'Gender Shades', Proceedings of Machine Learning Research, 81, pp. 1-15.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Dastin, J. (2018) 'Amazon scraps secret AI recruiting tool', Reuters, 10 October. Available at: https://www.reuters.com/article/us-amazon-com-jobs-automation-insight-idUSKCN1MK08G (Accessed: 20 July 2026).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European Parliament (2024) Regulation (EU) 2024/1689 (Artificial Intelligence Act). Available at: https://eur-lex.europa.eu/legal-content/EN/TXT/?uri=CELEX:32024R1689 (Accessed: 20 July 2026).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European Union (2016) General Data Protection Regulation, Regulation (EU) 2016/679. Available at: https://eur-lex.europa.eu/legal-content/EN/TXT/?uri=CELEX:32016R0679 (Accessed: 20 July 2026).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Floridi, L. et al. (2018) 'AI4People', Minds and Machines, 28(4), pp. 689-707.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Grus, J. (2019) Data Science from Scratch. 2nd edn. Sebastopol: O'Reilly Media.</a:t>
            </a:r>
            <a:endParaRPr sz="1200"/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/>
              <a:t>*</a:t>
            </a:r>
            <a:r>
              <a:rPr sz="1200"/>
              <a:t>IBM (2024) Cost of a Data Breach Report 2024. Available at: https://www.ibm.com/reports/data-breach (Accessed: 20 July 2026).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4480" y="375920"/>
            <a:ext cx="8402955" cy="5976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Information Commissioner's Office (2024) Guidance on AI and data protection. Available at: https://ico.org.uk/for-organisations/uk-gdpr-guidance-and-resources/artificial-intelligence/ (Accessed: 20 July 2026).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Jobin, A., Ienca, M. and Vayena, E. (2019) 'The global landscape of AI ethics guidelines', Nature Machine Intelligence, 1(9), pp. 389-399.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McKinsey &amp; Company (2024) The state of AI in early 2024. Available at: https://www.mckinsey.com/capabilities/quantumblack/our-insights (Accessed: 20 July 2026).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Mittelstadt, B.D. et al. (2016) 'The ethics of algorithms', Big Data &amp; Society, 3(2), pp. 1-21.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NIST (2023) Artificial Intelligence Risk Management Framework (AI RMF 1.0). Gaithersburg: NIST.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Noble, S.U. (2018) Algorithms of Oppression. New York: NYU Press.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OWASP (2024) OWASP Top 10 for LLM Applications. Available at: https://owasp.org/www-project-top-10-for-large-language-model-applications/ (Accessed: 20 July 2026).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Raji, I.D. et al. (2020) 'Closing the AI accountability gap', Proceedings of FAccT, pp. 33-44.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Russell, S. and Norvig, P. (2021) Artificial Intelligence: A Modern Approach. 4th edn. Harlow: Pearson.</a:t>
            </a:r>
            <a:endParaRPr sz="1200">
              <a:sym typeface="+mn-ea"/>
            </a:endParaRPr>
          </a:p>
          <a:p>
            <a:pPr>
              <a:lnSpc>
                <a:spcPct val="200000"/>
              </a:lnSpc>
              <a:spcAft>
                <a:spcPts val="200"/>
              </a:spcAft>
              <a:defRPr sz="700">
                <a:solidFill>
                  <a:srgbClr val="2D2D2D"/>
                </a:solidFill>
                <a:latin typeface="Arial" panose="020B0604020202020204"/>
              </a:defRPr>
            </a:pPr>
            <a:r>
              <a:rPr lang="en-GB" sz="1200">
                <a:sym typeface="+mn-ea"/>
              </a:rPr>
              <a:t>*</a:t>
            </a:r>
            <a:r>
              <a:rPr sz="1200">
                <a:sym typeface="+mn-ea"/>
              </a:rPr>
              <a:t>Stack Overflow (2024) Developer Survey 2024. Available at: https://survey.stackoverflow.co/2024/ (Accessed: 20 July 2026).</a:t>
            </a:r>
            <a:endParaRPr lang="en-US" sz="12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9957</Words>
  <Application>WPS Presentation</Application>
  <PresentationFormat>On-screen Show (4:3)</PresentationFormat>
  <Paragraphs>120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EZIUCHE EMMANUEL</cp:lastModifiedBy>
  <cp:revision>4</cp:revision>
  <dcterms:created xsi:type="dcterms:W3CDTF">2013-01-27T09:14:00Z</dcterms:created>
  <dcterms:modified xsi:type="dcterms:W3CDTF">2026-07-20T21:17:52Z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EF1929565AE841138552A36578EBCD8D_13</vt:lpwstr>
  </property>
</Properties>
</file>